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7" r:id="rId2"/>
    <p:sldId id="263" r:id="rId3"/>
    <p:sldId id="264" r:id="rId4"/>
    <p:sldId id="265" r:id="rId5"/>
    <p:sldId id="266" r:id="rId6"/>
    <p:sldId id="261" r:id="rId7"/>
    <p:sldId id="267" r:id="rId8"/>
    <p:sldId id="268" r:id="rId9"/>
    <p:sldId id="262" r:id="rId10"/>
    <p:sldId id="269" r:id="rId11"/>
    <p:sldId id="270" r:id="rId12"/>
    <p:sldId id="271" r:id="rId13"/>
    <p:sldId id="273" r:id="rId14"/>
    <p:sldId id="274" r:id="rId15"/>
    <p:sldId id="272" r:id="rId16"/>
    <p:sldId id="275" r:id="rId17"/>
    <p:sldId id="276" r:id="rId18"/>
    <p:sldId id="284" r:id="rId19"/>
    <p:sldId id="283" r:id="rId20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FFFE"/>
    <a:srgbClr val="36ABFF"/>
    <a:srgbClr val="0D0A27"/>
    <a:srgbClr val="37ABFF"/>
    <a:srgbClr val="F1FEFE"/>
    <a:srgbClr val="85A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BFBD6E-6F0A-4846-B5F6-C1402A2FC8C0}" v="6" dt="2025-11-13T03:11:31.994"/>
    <p1510:client id="{B5922C39-7184-470D-9109-F0F0D0E37205}" v="29" dt="2025-11-13T03:56:10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5" autoAdjust="0"/>
    <p:restoredTop sz="94660"/>
  </p:normalViewPr>
  <p:slideViewPr>
    <p:cSldViewPr snapToGrid="0" showGuides="1">
      <p:cViewPr varScale="1">
        <p:scale>
          <a:sx n="46" d="100"/>
          <a:sy n="46" d="100"/>
        </p:scale>
        <p:origin x="2597" y="-5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8B089FE-5646-9CF7-A0CD-D9371092F7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ADF765-FF2C-6672-30DF-4E02B0FCB8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237D1-EB3E-42ED-8017-A3E0F540A544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EF68CF-250A-55FC-E1E4-D9C6F5A555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2F9274-313E-B987-AB97-907ACC11A2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93A92-22D6-4927-AF67-7D3B866A4A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333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E0544-B9E7-47A8-ABD7-B3CFDECA6595}" type="datetimeFigureOut">
              <a:rPr lang="pt-BR" smtClean="0"/>
              <a:t>12/11/2025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A01F6-44E6-448B-9319-3BC869F75E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81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30072-6D31-42F3-B5CC-185B6D0A6822}" type="datetime1">
              <a:rPr lang="pt-BR" smtClean="0"/>
              <a:t>12/11/2025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40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5A0BC-388F-4CA7-BE51-03B9510F86C7}" type="datetime1">
              <a:rPr lang="pt-BR" smtClean="0"/>
              <a:t>12/11/2025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10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B0A53-1723-472B-8809-AF93A93C6B7D}" type="datetime1">
              <a:rPr lang="pt-BR" smtClean="0"/>
              <a:t>12/11/2025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9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73D0C2-0B29-4E63-8862-AEF7CD2FD74C}" type="datetime1">
              <a:rPr lang="pt-BR" smtClean="0"/>
              <a:t>12/11/2025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93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68ADD-7F35-4AEB-BEB1-AD3CCDF011CE}" type="datetime1">
              <a:rPr lang="pt-BR" smtClean="0"/>
              <a:t>12/11/2025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75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6779A-9BC4-4AC0-8880-1B792DDACBDD}" type="datetime1">
              <a:rPr lang="pt-BR" smtClean="0"/>
              <a:t>12/11/2025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46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75754-B528-45A3-9A7A-655123E17D0E}" type="datetime1">
              <a:rPr lang="pt-BR" smtClean="0"/>
              <a:t>12/11/2025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94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BC77C-1A26-4515-863F-461CD234F563}" type="datetime1">
              <a:rPr lang="pt-BR" smtClean="0"/>
              <a:t>12/11/2025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91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6D11F-A570-44DC-98A9-9E7070BCD645}" type="datetime1">
              <a:rPr lang="pt-BR" smtClean="0"/>
              <a:t>12/11/2025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09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6D1A7-EFFC-4966-822B-4C00AB2CB4F1}" type="datetime1">
              <a:rPr lang="pt-BR" smtClean="0"/>
              <a:t>12/11/2025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2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B7C60-0DA7-42D4-A820-E1D03EB49949}" type="datetime1">
              <a:rPr lang="pt-BR" smtClean="0"/>
              <a:t>12/11/2025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17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CAA1B-DFB8-467D-A20E-1BF5C572C99B}" type="datetime1">
              <a:rPr lang="pt-BR" smtClean="0"/>
              <a:t>12/11/2025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SELETORES CSS PARA JEDIS - FELIPE AGUIAR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92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C59D0F3-0831-BB4F-5869-4C89A7608B75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jedi_img">
            <a:extLst>
              <a:ext uri="{FF2B5EF4-FFF2-40B4-BE49-F238E27FC236}">
                <a16:creationId xmlns:a16="http://schemas.microsoft.com/office/drawing/2014/main" id="{37B0524B-3D93-0DB0-4816-D121B4197E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935111"/>
            <a:ext cx="9601200" cy="9874907"/>
          </a:xfrm>
          <a:prstGeom prst="rect">
            <a:avLst/>
          </a:prstGeom>
        </p:spPr>
      </p:pic>
      <p:sp>
        <p:nvSpPr>
          <p:cNvPr id="14" name="fundo_subtitulo">
            <a:extLst>
              <a:ext uri="{FF2B5EF4-FFF2-40B4-BE49-F238E27FC236}">
                <a16:creationId xmlns:a16="http://schemas.microsoft.com/office/drawing/2014/main" id="{CECE1AD7-AD65-2877-B848-F4A38CF96147}"/>
              </a:ext>
            </a:extLst>
          </p:cNvPr>
          <p:cNvSpPr/>
          <p:nvPr/>
        </p:nvSpPr>
        <p:spPr>
          <a:xfrm>
            <a:off x="0" y="1937939"/>
            <a:ext cx="9601200" cy="830997"/>
          </a:xfrm>
          <a:prstGeom prst="rect">
            <a:avLst/>
          </a:prstGeom>
          <a:solidFill>
            <a:srgbClr val="36AB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logo_css" descr="Ícone&#10;&#10;O conteúdo gerado por IA pode estar incorreto.">
            <a:extLst>
              <a:ext uri="{FF2B5EF4-FFF2-40B4-BE49-F238E27FC236}">
                <a16:creationId xmlns:a16="http://schemas.microsoft.com/office/drawing/2014/main" id="{EA26D580-CAFF-82C8-5A63-D0CFDDFA66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6" r="696"/>
          <a:stretch/>
        </p:blipFill>
        <p:spPr>
          <a:xfrm>
            <a:off x="577706" y="3191106"/>
            <a:ext cx="2435026" cy="2400142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87405FB1-0AFE-DF6D-4838-8755D3F2C988}"/>
              </a:ext>
            </a:extLst>
          </p:cNvPr>
          <p:cNvSpPr txBox="1"/>
          <p:nvPr/>
        </p:nvSpPr>
        <p:spPr>
          <a:xfrm>
            <a:off x="2070591" y="311216"/>
            <a:ext cx="6505900" cy="1323439"/>
          </a:xfrm>
          <a:prstGeom prst="rect">
            <a:avLst/>
          </a:prstGeom>
          <a:noFill/>
          <a:effectLst>
            <a:glow rad="1092200">
              <a:schemeClr val="accent1">
                <a:alpha val="28000"/>
              </a:schemeClr>
            </a:glow>
            <a:outerShdw blurRad="50800" dist="50800" dir="5400000" algn="ctr" rotWithShape="0">
              <a:srgbClr val="000000">
                <a:alpha val="80000"/>
              </a:srgbClr>
            </a:outerShdw>
            <a:reflection stA="90000" endPos="9000" dist="50800" dir="5400000" sy="-100000" algn="bl" rotWithShape="0"/>
          </a:effectLst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8000" dirty="0">
                <a:effectLst>
                  <a:glow rad="342900">
                    <a:srgbClr val="37ABFF"/>
                  </a:glow>
                </a:effectLst>
                <a:latin typeface="8BIT WONDER"/>
              </a:rPr>
              <a:t>E-SPORTS CS</a:t>
            </a:r>
          </a:p>
        </p:txBody>
      </p:sp>
      <p:sp>
        <p:nvSpPr>
          <p:cNvPr id="13" name="subtitulo">
            <a:extLst>
              <a:ext uri="{FF2B5EF4-FFF2-40B4-BE49-F238E27FC236}">
                <a16:creationId xmlns:a16="http://schemas.microsoft.com/office/drawing/2014/main" id="{429024B7-8E30-E5DB-74CA-5CCE07B84C5A}"/>
              </a:ext>
            </a:extLst>
          </p:cNvPr>
          <p:cNvSpPr txBox="1"/>
          <p:nvPr/>
        </p:nvSpPr>
        <p:spPr>
          <a:xfrm>
            <a:off x="2071036" y="1968941"/>
            <a:ext cx="56028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bg1"/>
                </a:solidFill>
                <a:latin typeface="Impact" panose="020B0806030902050204" pitchFamily="34" charset="0"/>
              </a:rPr>
              <a:t>A Nova Era dos Games</a:t>
            </a:r>
          </a:p>
        </p:txBody>
      </p:sp>
      <p:sp>
        <p:nvSpPr>
          <p:cNvPr id="16" name="fundo_rodape">
            <a:extLst>
              <a:ext uri="{FF2B5EF4-FFF2-40B4-BE49-F238E27FC236}">
                <a16:creationId xmlns:a16="http://schemas.microsoft.com/office/drawing/2014/main" id="{8A5EDDAD-04F3-2FDC-9612-B1EBD47701CD}"/>
              </a:ext>
            </a:extLst>
          </p:cNvPr>
          <p:cNvSpPr/>
          <p:nvPr/>
        </p:nvSpPr>
        <p:spPr>
          <a:xfrm>
            <a:off x="2683363" y="11814284"/>
            <a:ext cx="4378164" cy="830997"/>
          </a:xfrm>
          <a:prstGeom prst="rect">
            <a:avLst/>
          </a:prstGeom>
          <a:solidFill>
            <a:srgbClr val="36AB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odape">
            <a:extLst>
              <a:ext uri="{FF2B5EF4-FFF2-40B4-BE49-F238E27FC236}">
                <a16:creationId xmlns:a16="http://schemas.microsoft.com/office/drawing/2014/main" id="{6275A980-272E-6995-30C1-C7DA34BD34F2}"/>
              </a:ext>
            </a:extLst>
          </p:cNvPr>
          <p:cNvSpPr txBox="1"/>
          <p:nvPr/>
        </p:nvSpPr>
        <p:spPr>
          <a:xfrm>
            <a:off x="2612570" y="11836321"/>
            <a:ext cx="4519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dirty="0">
                <a:solidFill>
                  <a:srgbClr val="0D0A27"/>
                </a:solidFill>
                <a:latin typeface="Impact" panose="020B0806030902050204" pitchFamily="34" charset="0"/>
              </a:rPr>
              <a:t>VINICIUS MENDES</a:t>
            </a:r>
          </a:p>
        </p:txBody>
      </p:sp>
    </p:spTree>
    <p:extLst>
      <p:ext uri="{BB962C8B-B14F-4D97-AF65-F5344CB8AC3E}">
        <p14:creationId xmlns:p14="http://schemas.microsoft.com/office/powerpoint/2010/main" val="2060185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999059"/>
            <a:ext cx="78166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Counter-Strike: Global Offensive (CS:GO) é um dos maiores jogos de tiro em equipe do mundo. Nele, dois times — </a:t>
            </a:r>
            <a:r>
              <a:rPr lang="pt-BR" sz="2400" b="1" dirty="0"/>
              <a:t>Terroristas (TR)</a:t>
            </a:r>
            <a:r>
              <a:rPr lang="pt-BR" sz="2400" dirty="0"/>
              <a:t> e </a:t>
            </a:r>
            <a:r>
              <a:rPr lang="pt-BR" sz="2400" b="1" dirty="0"/>
              <a:t>Contra-Terroristas (CT)</a:t>
            </a:r>
            <a:r>
              <a:rPr lang="pt-BR" sz="2400" dirty="0"/>
              <a:t> — se enfrentam em rodadas rápidas, com o objetivo de plantar ou desarmar bombas, ou eliminar o time adversário.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133274" y="768756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🎯 </a:t>
            </a:r>
            <a:r>
              <a:rPr lang="pt-BR" sz="4000" b="1" dirty="0"/>
              <a:t>Introdução ao Mundo de CS:GO</a:t>
            </a:r>
            <a:endParaRPr lang="pt-BR" sz="4000" dirty="0">
              <a:latin typeface="Impact" panose="020B0806030902050204" pitchFamily="34" charset="0"/>
            </a:endParaRPr>
          </a:p>
        </p:txBody>
      </p:sp>
      <p:sp>
        <p:nvSpPr>
          <p:cNvPr id="4" name="subtitulo_componente">
            <a:extLst>
              <a:ext uri="{FF2B5EF4-FFF2-40B4-BE49-F238E27FC236}">
                <a16:creationId xmlns:a16="http://schemas.microsoft.com/office/drawing/2014/main" id="{25CCF5E4-57B1-4237-190B-AC69C1A6536B}"/>
              </a:ext>
            </a:extLst>
          </p:cNvPr>
          <p:cNvSpPr txBox="1"/>
          <p:nvPr/>
        </p:nvSpPr>
        <p:spPr>
          <a:xfrm>
            <a:off x="870768" y="1961917"/>
            <a:ext cx="78166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latin typeface="+mj-lt"/>
              </a:rPr>
              <a:t>Simplificando o Estilo dos seus Elementos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logo_css">
            <a:extLst>
              <a:ext uri="{FF2B5EF4-FFF2-40B4-BE49-F238E27FC236}">
                <a16:creationId xmlns:a16="http://schemas.microsoft.com/office/drawing/2014/main" id="{A2D9A93F-3803-E8E7-32AC-1BF775A02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91" b="26391"/>
          <a:stretch/>
        </p:blipFill>
        <p:spPr>
          <a:xfrm>
            <a:off x="96189" y="6063261"/>
            <a:ext cx="9365802" cy="4676718"/>
          </a:xfrm>
          <a:prstGeom prst="rect">
            <a:avLst/>
          </a:prstGeom>
        </p:spPr>
      </p:pic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950483A-1B7C-BC8A-AFE0-E5A3B512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1966F1B7-35CA-277C-5D23-E67A2444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400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solidFill>
                  <a:schemeClr val="bg1"/>
                </a:solidFill>
                <a:latin typeface="Impact" panose="020B0806030902050204" pitchFamily="34" charset="0"/>
              </a:rPr>
              <a:t>MECÂNICA</a:t>
            </a:r>
          </a:p>
          <a:p>
            <a:pPr algn="ctr"/>
            <a:r>
              <a:rPr lang="pt-BR" sz="8800" dirty="0">
                <a:solidFill>
                  <a:schemeClr val="bg1"/>
                </a:solidFill>
                <a:latin typeface="Impact" panose="020B0806030902050204" pitchFamily="34" charset="0"/>
              </a:rPr>
              <a:t>HABILIDADE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A8281A8C-F51B-8070-EE7F-AC4CBC315387}"/>
              </a:ext>
            </a:extLst>
          </p:cNvPr>
          <p:cNvSpPr txBox="1"/>
          <p:nvPr/>
        </p:nvSpPr>
        <p:spPr>
          <a:xfrm>
            <a:off x="870768" y="9340866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CS:GO exige precisão, reflexo e controle de recoil.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Cada arma tem um padrão de disparo único.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351BD98C-D072-63C9-21C3-E1219F48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200A01C-BA5B-3A36-1BF1-0562AE8A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51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5" y="5780858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/>
              <a:t>Exemplo real:</a:t>
            </a:r>
            <a:r>
              <a:rPr lang="pt-BR" sz="2400" dirty="0"/>
              <a:t> a </a:t>
            </a:r>
            <a:r>
              <a:rPr lang="pt-BR" sz="2400" b="1" dirty="0"/>
              <a:t>AK-47</a:t>
            </a:r>
            <a:r>
              <a:rPr lang="pt-BR" sz="2400" dirty="0"/>
              <a:t> tem alto dano, mas exige dominar o spray; jogadores profissionais treinam horas por dia em mapas como </a:t>
            </a:r>
            <a:r>
              <a:rPr lang="pt-BR" sz="2400" i="1" dirty="0"/>
              <a:t>Aim Botz</a:t>
            </a:r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393143" y="459466"/>
            <a:ext cx="33877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ARMA DO JOGO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Imagem 14" hidden="1">
            <a:extLst>
              <a:ext uri="{FF2B5EF4-FFF2-40B4-BE49-F238E27FC236}">
                <a16:creationId xmlns:a16="http://schemas.microsoft.com/office/drawing/2014/main" id="{5700C8E0-6626-D7DD-1010-655515E46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6448"/>
            <a:ext cx="9601200" cy="4384548"/>
          </a:xfrm>
          <a:prstGeom prst="rect">
            <a:avLst/>
          </a:prstGeom>
        </p:spPr>
      </p:pic>
      <p:sp>
        <p:nvSpPr>
          <p:cNvPr id="19" name="Espaço Reservado para Rodapé 18">
            <a:extLst>
              <a:ext uri="{FF2B5EF4-FFF2-40B4-BE49-F238E27FC236}">
                <a16:creationId xmlns:a16="http://schemas.microsoft.com/office/drawing/2014/main" id="{106B9400-10F5-C4D9-5FB4-31020CF6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20" name="Espaço Reservado para Número de Slide 19">
            <a:extLst>
              <a:ext uri="{FF2B5EF4-FFF2-40B4-BE49-F238E27FC236}">
                <a16:creationId xmlns:a16="http://schemas.microsoft.com/office/drawing/2014/main" id="{919B02F9-1256-559A-957D-87AA95AA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4</a:t>
            </a:fld>
            <a:endParaRPr lang="pt-BR"/>
          </a:p>
        </p:txBody>
      </p:sp>
      <p:pic>
        <p:nvPicPr>
          <p:cNvPr id="4104" name="Picture 8">
            <a:extLst>
              <a:ext uri="{FF2B5EF4-FFF2-40B4-BE49-F238E27FC236}">
                <a16:creationId xmlns:a16="http://schemas.microsoft.com/office/drawing/2014/main" id="{A393F87C-445A-A984-0A42-8A48C42D1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2787712" y="2750813"/>
            <a:ext cx="3524250" cy="1446581"/>
          </a:xfrm>
          <a:prstGeom prst="rect">
            <a:avLst/>
          </a:prstGeom>
          <a:noFill/>
        </p:spPr>
      </p:pic>
      <p:pic>
        <p:nvPicPr>
          <p:cNvPr id="25" name="logo_css">
            <a:extLst>
              <a:ext uri="{FF2B5EF4-FFF2-40B4-BE49-F238E27FC236}">
                <a16:creationId xmlns:a16="http://schemas.microsoft.com/office/drawing/2014/main" id="{68D9D51D-79E1-64B4-7B7A-A0A4BFAC6E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89" y="9926898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69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651281" y="6089741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Mais do que mirar bem, é preciso </a:t>
            </a:r>
            <a:r>
              <a:rPr lang="pt-BR" sz="2400" b="1" dirty="0"/>
              <a:t>trabalhar em equipe</a:t>
            </a:r>
            <a:r>
              <a:rPr lang="pt-BR" sz="2400" dirty="0"/>
              <a:t>. Comunicação clara e estratégias definidas fazem toda a diferença.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460704" y="806736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SELETOR DE ELEMENTO COM CLASSE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hidden="1">
            <a:extLst>
              <a:ext uri="{FF2B5EF4-FFF2-40B4-BE49-F238E27FC236}">
                <a16:creationId xmlns:a16="http://schemas.microsoft.com/office/drawing/2014/main" id="{6FB2751F-08A0-9941-129D-A547A9D0B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5442"/>
            <a:ext cx="9601200" cy="4384548"/>
          </a:xfrm>
          <a:prstGeom prst="rect">
            <a:avLst/>
          </a:prstGeom>
        </p:spPr>
      </p:pic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2C3508E1-2709-5CFF-2270-FDDC6B1B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23368C93-F191-8BB0-76CF-5C194CD19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5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4F69F2E5-CDE8-7FB0-C4CB-899ED78E5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3" y="3078890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234D8C20-5D32-6AC9-6FEB-60B98BE564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1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004859"/>
            <a:ext cx="78166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dirty="0">
                <a:solidFill>
                  <a:schemeClr val="bg1"/>
                </a:solidFill>
                <a:latin typeface="Impact" panose="020B0806030902050204" pitchFamily="34" charset="0"/>
              </a:rPr>
              <a:t>ESTRATÉGIA</a:t>
            </a:r>
          </a:p>
          <a:p>
            <a:pPr algn="ctr"/>
            <a:r>
              <a:rPr lang="pt-BR" sz="8800" dirty="0">
                <a:solidFill>
                  <a:schemeClr val="bg1"/>
                </a:solidFill>
                <a:latin typeface="Impact" panose="020B0806030902050204" pitchFamily="34" charset="0"/>
              </a:rPr>
              <a:t>COMUNICAÇÃO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4F6127F0-6CC7-2E82-46AB-DF602C5CC776}"/>
              </a:ext>
            </a:extLst>
          </p:cNvPr>
          <p:cNvSpPr txBox="1"/>
          <p:nvPr/>
        </p:nvSpPr>
        <p:spPr>
          <a:xfrm>
            <a:off x="870768" y="9340866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Exemplo prático: times combinam táticas como “execução A”.</a:t>
            </a:r>
          </a:p>
          <a:p>
            <a:pPr algn="ctr"/>
            <a:r>
              <a:rPr lang="pt-BR" sz="2400" dirty="0">
                <a:solidFill>
                  <a:schemeClr val="bg1"/>
                </a:solidFill>
              </a:rPr>
              <a:t>Onde todos entram juntos no bombsite após granadas de fumaças e flashes.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90E6D8A5-1A1A-B921-5118-21A6BD3F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D097E9B-2BDA-D42C-D47C-437D8B79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043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4" y="5231419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CS:GO é um dos pilares dos </a:t>
            </a:r>
            <a:r>
              <a:rPr lang="pt-BR" sz="2400" b="1" dirty="0"/>
              <a:t>E-Sports</a:t>
            </a:r>
            <a:r>
              <a:rPr lang="pt-BR" sz="2400" dirty="0"/>
              <a:t>. Competições como </a:t>
            </a:r>
            <a:r>
              <a:rPr lang="pt-BR" sz="2400" b="1" dirty="0"/>
              <a:t>ESL Pro League</a:t>
            </a:r>
            <a:r>
              <a:rPr lang="pt-BR" sz="2400" dirty="0"/>
              <a:t>, </a:t>
            </a:r>
            <a:r>
              <a:rPr lang="pt-BR" sz="2400" b="1" dirty="0"/>
              <a:t>BLAST Premier</a:t>
            </a:r>
            <a:r>
              <a:rPr lang="pt-BR" sz="2400" dirty="0"/>
              <a:t> e </a:t>
            </a:r>
            <a:r>
              <a:rPr lang="pt-BR" sz="2400" b="1" dirty="0"/>
              <a:t>PGL Major</a:t>
            </a:r>
            <a:r>
              <a:rPr lang="pt-BR" sz="2400" dirty="0"/>
              <a:t> reúnem milhões de espectadores e prêmios milionários.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800225" y="739275"/>
            <a:ext cx="2000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CENÁRIO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hidden="1">
            <a:extLst>
              <a:ext uri="{FF2B5EF4-FFF2-40B4-BE49-F238E27FC236}">
                <a16:creationId xmlns:a16="http://schemas.microsoft.com/office/drawing/2014/main" id="{F585F010-8CE1-BD79-782A-7C7F4947D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1417"/>
            <a:ext cx="9601200" cy="4384548"/>
          </a:xfrm>
          <a:prstGeom prst="rect">
            <a:avLst/>
          </a:prstGeom>
        </p:spPr>
      </p:pic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798D93-ED72-CD33-880D-2C72AA1C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51B58DE0-4197-A9DA-3C15-1110405E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7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A03BE2BD-1CCA-12BC-A40F-EE2A3201B7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271299" y="2477559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0D3A0626-5486-8A0B-F407-2B7942FBD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887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2" y="5099079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/>
              <a:t>Exemplo:</a:t>
            </a:r>
            <a:r>
              <a:rPr lang="pt-BR" sz="2400" dirty="0"/>
              <a:t> o time </a:t>
            </a:r>
            <a:r>
              <a:rPr lang="pt-BR" sz="2400" b="1" dirty="0"/>
              <a:t>Natus Vincere (NaVi)</a:t>
            </a:r>
            <a:r>
              <a:rPr lang="pt-BR" sz="2400" dirty="0"/>
              <a:t>, com o jogador </a:t>
            </a:r>
            <a:r>
              <a:rPr lang="pt-BR" sz="2400" i="1" dirty="0"/>
              <a:t>s1mple</a:t>
            </a:r>
            <a:r>
              <a:rPr lang="pt-BR" sz="2400" dirty="0"/>
              <a:t>, ficou marcado por jogadas lendárias e domínio técnico no cenário mundial.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787418" y="852294"/>
            <a:ext cx="20263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CENÁRIO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hidden="1">
            <a:extLst>
              <a:ext uri="{FF2B5EF4-FFF2-40B4-BE49-F238E27FC236}">
                <a16:creationId xmlns:a16="http://schemas.microsoft.com/office/drawing/2014/main" id="{185CF9CB-4CC1-DE44-FE12-DBFD06756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93429"/>
            <a:ext cx="9601200" cy="4384548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3705D91-2830-D276-4CDD-D1D05BFB2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80397" y="11865189"/>
            <a:ext cx="3240405" cy="681567"/>
          </a:xfrm>
        </p:spPr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E74BF1F5-AB5B-FE30-A4A2-5DCD1ECEB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8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4958DF4A-2CF7-9A4E-97F2-AE1C614A2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289237" y="2535732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9EE0F1E8-A076-473F-33BC-D45EBBA3F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5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MAPAS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1A38D318-280C-0E99-2186-7D919CA59191}"/>
              </a:ext>
            </a:extLst>
          </p:cNvPr>
          <p:cNvSpPr txBox="1"/>
          <p:nvPr/>
        </p:nvSpPr>
        <p:spPr>
          <a:xfrm>
            <a:off x="870768" y="9340866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Os mapas são o coração do jogo – cada um com identidade própria e estratégias únicas.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ED5FF5DA-5CF2-1E22-3C5B-B6117E87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CFFF15F9-9106-7134-AA2D-FD2E7ED9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851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6" y="5431304"/>
            <a:ext cx="78166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Dust2: equilíbrio entre os times, ideal pra treino de mira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/>
              <a:t>Mirage: foco em controle de meio e táticas rápidas.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/>
              <a:t>Inferno: rotas estreitas e domínio de granadas.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4010527" y="629840"/>
            <a:ext cx="1580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MAPAS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hidden="1">
            <a:extLst>
              <a:ext uri="{FF2B5EF4-FFF2-40B4-BE49-F238E27FC236}">
                <a16:creationId xmlns:a16="http://schemas.microsoft.com/office/drawing/2014/main" id="{A95D5724-24DA-ADC3-C379-B601C7A51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10" y="5329404"/>
            <a:ext cx="9601200" cy="4384548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6565A60-9FB1-1F97-0762-8DE359BB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30BC083C-9C5F-F316-D781-2502741E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10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562CDC66-64EC-BBA5-302D-9A56F5620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3" y="2652359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48CEEBD9-BF75-49F8-2AA7-2B759F4CF8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347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4" y="5569803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Aprender os </a:t>
            </a:r>
            <a:r>
              <a:rPr lang="pt-BR" sz="2400" i="1" dirty="0"/>
              <a:t>callouts</a:t>
            </a:r>
            <a:r>
              <a:rPr lang="pt-BR" sz="2400" dirty="0"/>
              <a:t> (nomes das áreas) de cada mapa é essencial para se comunicar bem.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998724" y="807996"/>
            <a:ext cx="1603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MAPAS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hidden="1">
            <a:extLst>
              <a:ext uri="{FF2B5EF4-FFF2-40B4-BE49-F238E27FC236}">
                <a16:creationId xmlns:a16="http://schemas.microsoft.com/office/drawing/2014/main" id="{E37A2726-DEDE-D6F8-5606-6CD681A8B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16449"/>
            <a:ext cx="9601200" cy="4384548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C2FB977-C576-929A-11F8-065104F07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C0112A6A-8045-BDE1-CBCD-30BA39BF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11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4E14F219-994E-D2D9-CDB3-F00CFDFF6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2" y="2819552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EBCB20CD-08E1-2EC3-7810-0B62B5799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074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O FUTURO DO CS:GO (CS2)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1A38D318-280C-0E99-2186-7D919CA59191}"/>
              </a:ext>
            </a:extLst>
          </p:cNvPr>
          <p:cNvSpPr txBox="1"/>
          <p:nvPr/>
        </p:nvSpPr>
        <p:spPr>
          <a:xfrm>
            <a:off x="870768" y="9340866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Com o lançamento do Counter-Strike 2, o jogo ganhou melhorias gráficas, física de granadas realista e servidores com tick rate dinâmico.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5CF477FF-E9CE-427E-324B-E4F18DF0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A26FB245-ED35-8115-4128-B27CC5C3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376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651281" y="5800635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/>
              <a:t>Na prática:</a:t>
            </a:r>
            <a:r>
              <a:rPr lang="pt-BR" sz="2400" dirty="0"/>
              <a:t> granadas de fumaça agora se comportam de forma mais natural, preenchendo espaços e reagindo a tiros e explosões — o que muda totalmente a estratégia.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375879" y="870154"/>
            <a:ext cx="30449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CS:GO (CS2)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 hidden="1">
            <a:extLst>
              <a:ext uri="{FF2B5EF4-FFF2-40B4-BE49-F238E27FC236}">
                <a16:creationId xmlns:a16="http://schemas.microsoft.com/office/drawing/2014/main" id="{89ACEA64-FFEE-2FE8-BAA7-33FF738ED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8" y="4761070"/>
            <a:ext cx="9601200" cy="4384548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68AAFF6A-760E-55AD-CF3D-CC5D88DC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B63FA121-A564-460E-9CA1-4990FBE5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13</a:t>
            </a:fld>
            <a:endParaRPr lang="pt-BR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4FB6B5F6-D9AE-C542-98C4-5DA710DF7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3" y="2966047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logo_css">
            <a:extLst>
              <a:ext uri="{FF2B5EF4-FFF2-40B4-BE49-F238E27FC236}">
                <a16:creationId xmlns:a16="http://schemas.microsoft.com/office/drawing/2014/main" id="{FF240750-F9D4-4FC8-D708-5DC2067695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67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6" y="5615970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A interface ficou </a:t>
            </a:r>
            <a:r>
              <a:rPr lang="pt-BR" sz="2400" b="1" dirty="0"/>
              <a:t>mais limpa e intuitiva</a:t>
            </a:r>
            <a:r>
              <a:rPr lang="pt-BR" sz="2400" dirty="0"/>
              <a:t>. O HUD exibe informações mais claras e visuais modernos.</a:t>
            </a:r>
            <a:br>
              <a:rPr lang="pt-BR" sz="2400" dirty="0"/>
            </a:br>
            <a:r>
              <a:rPr lang="pt-BR" sz="2400" dirty="0"/>
              <a:t>Além disso, a movimentação do personagem está mais fluida, tornando o gameplay </a:t>
            </a:r>
            <a:r>
              <a:rPr lang="pt-BR" sz="2400" b="1" dirty="0"/>
              <a:t>mais previsível e preciso</a:t>
            </a:r>
            <a:r>
              <a:rPr lang="pt-BR" sz="2400" dirty="0"/>
              <a:t>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3337128" y="777781"/>
            <a:ext cx="29269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CS:GO (CS2)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 hidden="1">
            <a:extLst>
              <a:ext uri="{FF2B5EF4-FFF2-40B4-BE49-F238E27FC236}">
                <a16:creationId xmlns:a16="http://schemas.microsoft.com/office/drawing/2014/main" id="{68987B24-9DDF-4663-F088-33B3F5C31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510" y="4908555"/>
            <a:ext cx="9601200" cy="4384548"/>
          </a:xfrm>
          <a:prstGeom prst="rect">
            <a:avLst/>
          </a:prstGeom>
        </p:spPr>
      </p:pic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EBBD7D6B-A7D1-64E1-F39F-726E19D7A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77C0DBF8-7774-E6C9-AF39-A8AF77AB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14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8A9C1BCB-88AB-2FBF-D77C-4AE8D9240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3" y="2827528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6EC815F2-8914-BD35-2029-E0A5D3C6F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73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ALÉM DO CS: O UNIVERSO GAMER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rgbClr val="11FFFE"/>
                  </a:solidFill>
                </a:ln>
                <a:noFill/>
                <a:latin typeface="Impact" panose="020B0806030902050204" pitchFamily="34" charset="0"/>
              </a:rPr>
              <a:t>05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1A38D318-280C-0E99-2186-7D919CA59191}"/>
              </a:ext>
            </a:extLst>
          </p:cNvPr>
          <p:cNvSpPr txBox="1"/>
          <p:nvPr/>
        </p:nvSpPr>
        <p:spPr>
          <a:xfrm>
            <a:off x="807610" y="9588960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O sucesso de </a:t>
            </a:r>
            <a:r>
              <a:rPr lang="pt-BR" sz="2400" b="1" dirty="0">
                <a:solidFill>
                  <a:schemeClr val="bg1"/>
                </a:solidFill>
              </a:rPr>
              <a:t>CS:GO e CS2</a:t>
            </a:r>
            <a:r>
              <a:rPr lang="pt-BR" sz="2400" dirty="0">
                <a:solidFill>
                  <a:schemeClr val="bg1"/>
                </a:solidFill>
              </a:rPr>
              <a:t> reflete algo maior: a força do </a:t>
            </a:r>
            <a:r>
              <a:rPr lang="pt-BR" sz="2400" b="1" dirty="0">
                <a:solidFill>
                  <a:schemeClr val="bg1"/>
                </a:solidFill>
              </a:rPr>
              <a:t>universo gamer</a:t>
            </a:r>
            <a:r>
              <a:rPr lang="pt-BR" sz="2400" dirty="0">
                <a:solidFill>
                  <a:schemeClr val="bg1"/>
                </a:solidFill>
              </a:rPr>
              <a:t>. O que começou como diversão virou uma </a:t>
            </a:r>
            <a:r>
              <a:rPr lang="pt-BR" sz="2400" b="1" dirty="0">
                <a:solidFill>
                  <a:schemeClr val="bg1"/>
                </a:solidFill>
              </a:rPr>
              <a:t>indústria global</a:t>
            </a:r>
            <a:r>
              <a:rPr lang="pt-BR" sz="2400" dirty="0">
                <a:solidFill>
                  <a:schemeClr val="bg1"/>
                </a:solidFill>
              </a:rPr>
              <a:t> que movimenta bilhões e conecta milhões de pessoas no mundo todo.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BDF64E93-9F72-3B13-FC04-1CF9FAD8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D0F6146A-7175-FD15-9D6E-9F3335CC0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5566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4" y="5615970"/>
            <a:ext cx="7816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Jogos como </a:t>
            </a:r>
            <a:r>
              <a:rPr lang="pt-BR" sz="2400" b="1" dirty="0"/>
              <a:t>League of Legends</a:t>
            </a:r>
            <a:r>
              <a:rPr lang="pt-BR" sz="2400" dirty="0"/>
              <a:t>, </a:t>
            </a:r>
            <a:r>
              <a:rPr lang="pt-BR" sz="2400" b="1" dirty="0"/>
              <a:t>Valorant</a:t>
            </a:r>
            <a:r>
              <a:rPr lang="pt-BR" sz="2400" dirty="0"/>
              <a:t>, </a:t>
            </a:r>
            <a:r>
              <a:rPr lang="pt-BR" sz="2400" b="1" dirty="0"/>
              <a:t>Fortnite</a:t>
            </a:r>
            <a:r>
              <a:rPr lang="pt-BR" sz="2400" dirty="0"/>
              <a:t> e o próprio </a:t>
            </a:r>
            <a:r>
              <a:rPr lang="pt-BR" sz="2400" b="1" dirty="0"/>
              <a:t>Counter-Strike</a:t>
            </a:r>
            <a:r>
              <a:rPr lang="pt-BR" sz="2400" dirty="0"/>
              <a:t> transformaram o ato de jogar em </a:t>
            </a:r>
            <a:r>
              <a:rPr lang="pt-BR" sz="2400" b="1" dirty="0"/>
              <a:t>carreira profissional</a:t>
            </a:r>
            <a:r>
              <a:rPr lang="pt-BR" sz="2400" dirty="0"/>
              <a:t>. Hoje, grandes torneios são transmitidos com a mesma audiência de eventos esportivos tradicionais.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784555" y="941713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 CRESCIMENTO DO E-SPORT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7492E912-C96D-66DF-60F4-0EC19ACDC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6A6DBD76-473B-80B1-4F20-86CD5BF3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16</a:t>
            </a:fld>
            <a:endParaRPr lang="pt-BR"/>
          </a:p>
        </p:txBody>
      </p:sp>
      <p:pic>
        <p:nvPicPr>
          <p:cNvPr id="13" name="Picture 8">
            <a:extLst>
              <a:ext uri="{FF2B5EF4-FFF2-40B4-BE49-F238E27FC236}">
                <a16:creationId xmlns:a16="http://schemas.microsoft.com/office/drawing/2014/main" id="{3611B9B7-2B67-22C0-6363-85B87607E6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1" y="2909494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logo_css">
            <a:extLst>
              <a:ext uri="{FF2B5EF4-FFF2-40B4-BE49-F238E27FC236}">
                <a16:creationId xmlns:a16="http://schemas.microsoft.com/office/drawing/2014/main" id="{A1F36D00-6AEF-DAD9-1469-397615F69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BBA7A54-2354-4AF6-BE1D-8CF5C0681BE4}"/>
              </a:ext>
            </a:extLst>
          </p:cNvPr>
          <p:cNvSpPr txBox="1"/>
          <p:nvPr/>
        </p:nvSpPr>
        <p:spPr>
          <a:xfrm>
            <a:off x="1978429" y="78970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6414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6" y="5431304"/>
            <a:ext cx="78166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Os avanços em </a:t>
            </a:r>
            <a:r>
              <a:rPr lang="pt-BR" sz="2400" b="1" dirty="0"/>
              <a:t>gráficos, conexão e inteligência artificial</a:t>
            </a:r>
            <a:r>
              <a:rPr lang="pt-BR" sz="2400" dirty="0"/>
              <a:t> estão tornando os games mais realistas e acessíveis. Plataformas como </a:t>
            </a:r>
            <a:r>
              <a:rPr lang="pt-BR" sz="2400" b="1" dirty="0"/>
              <a:t>Steam</a:t>
            </a:r>
            <a:r>
              <a:rPr lang="pt-BR" sz="2400" dirty="0"/>
              <a:t>, </a:t>
            </a:r>
            <a:r>
              <a:rPr lang="pt-BR" sz="2400" b="1" dirty="0"/>
              <a:t>Epic Games</a:t>
            </a:r>
            <a:r>
              <a:rPr lang="pt-BR" sz="2400" dirty="0"/>
              <a:t> e </a:t>
            </a:r>
            <a:r>
              <a:rPr lang="pt-BR" sz="2400" b="1" dirty="0"/>
              <a:t>Game Pass</a:t>
            </a:r>
            <a:r>
              <a:rPr lang="pt-BR" sz="2400" dirty="0"/>
              <a:t> permitem que qualquer pessoa, em qualquer lugar, jogue títulos competitivos com apenas alguns cliques.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2173065" y="806736"/>
            <a:ext cx="52550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TECNOLOGIA E INOVAÇÃO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96B4055A-90BC-F5B7-BD11-C561B43A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473182F9-777D-1298-4A4B-E5E9A913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17</a:t>
            </a:fld>
            <a:endParaRPr lang="pt-BR"/>
          </a:p>
        </p:txBody>
      </p:sp>
      <p:pic>
        <p:nvPicPr>
          <p:cNvPr id="15" name="Picture 8">
            <a:extLst>
              <a:ext uri="{FF2B5EF4-FFF2-40B4-BE49-F238E27FC236}">
                <a16:creationId xmlns:a16="http://schemas.microsoft.com/office/drawing/2014/main" id="{4F3E8E64-18DF-94F8-AB0B-7A5AB5220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038471" y="2749673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logo_css">
            <a:extLst>
              <a:ext uri="{FF2B5EF4-FFF2-40B4-BE49-F238E27FC236}">
                <a16:creationId xmlns:a16="http://schemas.microsoft.com/office/drawing/2014/main" id="{677DCDF5-3F67-F5D7-7A61-9CD8F072A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56" b="20656"/>
          <a:stretch/>
        </p:blipFill>
        <p:spPr>
          <a:xfrm>
            <a:off x="3535992" y="9979522"/>
            <a:ext cx="2529215" cy="148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21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GG WP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A80E993-76DA-56CE-427C-CE1D83BD30C1}"/>
              </a:ext>
            </a:extLst>
          </p:cNvPr>
          <p:cNvSpPr/>
          <p:nvPr/>
        </p:nvSpPr>
        <p:spPr>
          <a:xfrm>
            <a:off x="976944" y="8776129"/>
            <a:ext cx="7731978" cy="106262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15C797C3-6F1E-3AA4-4225-55DBA1A4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7204EBB-9793-B1C1-E210-A22022EF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956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6" y="5019596"/>
            <a:ext cx="78166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Esse Ebook foi gerado por IA, e diagramado por humano.</a:t>
            </a:r>
            <a:br>
              <a:rPr lang="pt-BR" sz="2400" dirty="0"/>
            </a:br>
            <a:r>
              <a:rPr lang="pt-BR" sz="2400" dirty="0"/>
              <a:t>Se encontra no meu Github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464760" y="787229"/>
            <a:ext cx="6671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OBRIGADO POR CHEGAR ATÉ AQUI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51281" y="-216344"/>
            <a:ext cx="144000" cy="1512000"/>
          </a:xfrm>
          <a:prstGeom prst="rect">
            <a:avLst/>
          </a:prstGeom>
          <a:gradFill flip="none" rotWithShape="1">
            <a:gsLst>
              <a:gs pos="0">
                <a:srgbClr val="11FFFE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rgbClr val="36ABF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4B80E3D0-EEFE-5ED5-3B8A-29C7805C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E-Sports Reloaded – VINICIUS MENDES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5194B7CE-3343-6082-D5FE-370D98CA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19</a:t>
            </a:fld>
            <a:endParaRPr lang="pt-BR" dirty="0"/>
          </a:p>
        </p:txBody>
      </p:sp>
      <p:pic>
        <p:nvPicPr>
          <p:cNvPr id="14" name="Picture 8">
            <a:extLst>
              <a:ext uri="{FF2B5EF4-FFF2-40B4-BE49-F238E27FC236}">
                <a16:creationId xmlns:a16="http://schemas.microsoft.com/office/drawing/2014/main" id="{7695C4A0-10A4-51FD-7FCE-43223D6F6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2874116" y="2534066"/>
            <a:ext cx="3524250" cy="144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>
            <a:extLst>
              <a:ext uri="{FF2B5EF4-FFF2-40B4-BE49-F238E27FC236}">
                <a16:creationId xmlns:a16="http://schemas.microsoft.com/office/drawing/2014/main" id="{4CCAA8B8-6479-A21B-B3AF-4D0014CE7F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rot="1987839">
            <a:off x="3376970" y="9497248"/>
            <a:ext cx="2518537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300835EE-A170-C4AE-5EE7-9322E1BA6163}"/>
              </a:ext>
            </a:extLst>
          </p:cNvPr>
          <p:cNvSpPr/>
          <p:nvPr/>
        </p:nvSpPr>
        <p:spPr>
          <a:xfrm>
            <a:off x="573499" y="8061364"/>
            <a:ext cx="7562940" cy="646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/>
              <a:t>https:/</a:t>
            </a:r>
            <a:r>
              <a:rPr lang="pt-BR" b="1" dirty="0">
                <a:solidFill>
                  <a:schemeClr val="tx1"/>
                </a:solidFill>
              </a:rPr>
              <a:t>github.com/V-Mendes</a:t>
            </a:r>
          </a:p>
        </p:txBody>
      </p:sp>
      <p:pic>
        <p:nvPicPr>
          <p:cNvPr id="1026" name="Picture 2" descr="GitHub Logos and Usage · GitHub">
            <a:extLst>
              <a:ext uri="{FF2B5EF4-FFF2-40B4-BE49-F238E27FC236}">
                <a16:creationId xmlns:a16="http://schemas.microsoft.com/office/drawing/2014/main" id="{1EF46656-CC8F-7EC9-456E-5D0A6CD02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955" y="6384794"/>
            <a:ext cx="1676570" cy="167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4952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5232</TotalTime>
  <Words>704</Words>
  <Application>Microsoft Office PowerPoint</Application>
  <PresentationFormat>Papel A3 (297 x 420 mm)</PresentationFormat>
  <Paragraphs>89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0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Silva Aguiar</dc:creator>
  <cp:lastModifiedBy>Vinícius Mendes</cp:lastModifiedBy>
  <cp:revision>57</cp:revision>
  <dcterms:created xsi:type="dcterms:W3CDTF">2023-06-15T14:34:16Z</dcterms:created>
  <dcterms:modified xsi:type="dcterms:W3CDTF">2025-11-13T04:13:31Z</dcterms:modified>
</cp:coreProperties>
</file>